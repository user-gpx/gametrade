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4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440000"/>
            <a:ext cx="10392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游戏道具交易平台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0" y="2592000"/>
            <a:ext cx="4992120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736000"/>
            <a:ext cx="1039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498DB"/>
                </a:solidFill>
                <a:latin typeface="Microsoft YaHei"/>
              </a:defRPr>
            </a:pPr>
            <a:r>
              <a:t>课程设计汇报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420000"/>
            <a:ext cx="1039211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BBCC"/>
                </a:solidFill>
                <a:latin typeface="Microsoft YaHei"/>
              </a:defRPr>
            </a:pPr>
            <a:r>
              <a:t>GameTrade - Game Item Trading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0" y="4031999"/>
            <a:ext cx="4992120" cy="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0" y="4320000"/>
            <a:ext cx="64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300">
                <a:solidFill>
                  <a:srgbClr val="BBCCDD"/>
                </a:solidFill>
                <a:latin typeface="Microsoft YaHei"/>
              </a:defRPr>
            </a:pPr>
            <a:r>
              <a:t>成员A (曾雨111):  用户认证 + 道具展示</a:t>
            </a:r>
          </a:p>
          <a:p>
            <a:pPr algn="l">
              <a:spcAft>
                <a:spcPts val="1600"/>
              </a:spcAft>
              <a:defRPr sz="1300">
                <a:solidFill>
                  <a:srgbClr val="BBCCDD"/>
                </a:solidFill>
                <a:latin typeface="Microsoft YaHei"/>
              </a:defRPr>
            </a:pPr>
            <a:r>
              <a:t>成员B:  交易模块 + 支付系统</a:t>
            </a:r>
          </a:p>
          <a:p>
            <a:pPr algn="l">
              <a:spcAft>
                <a:spcPts val="1600"/>
              </a:spcAft>
              <a:defRPr sz="1300">
                <a:solidFill>
                  <a:srgbClr val="BBCCDD"/>
                </a:solidFill>
                <a:latin typeface="Microsoft YaHei"/>
              </a:defRPr>
            </a:pPr>
            <a:r>
              <a:t>成员C:  订单管理 + 统计功能 + 前端整合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0" y="594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Microsoft YaHei"/>
              </a:defRPr>
            </a:pPr>
            <a:r>
              <a:t>2026年6月</a:t>
            </a:r>
          </a:p>
        </p:txBody>
      </p:sp>
      <p:sp>
        <p:nvSpPr>
          <p:cNvPr id="10" name="Right Triangle 9"/>
          <p:cNvSpPr/>
          <p:nvPr/>
        </p:nvSpPr>
        <p:spPr>
          <a:xfrm rot="10800000">
            <a:off x="10752119" y="5418000"/>
            <a:ext cx="1440000" cy="1440000"/>
          </a:xfrm>
          <a:prstGeom prst="rtTriangle">
            <a:avLst/>
          </a:prstGeom>
          <a:solidFill>
            <a:srgbClr val="3D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88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80000"/>
            <a:ext cx="1800000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000" y="1404000"/>
            <a:ext cx="432000" cy="432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368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1728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游戏道具交易市场现状与痛点分析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2196000"/>
            <a:ext cx="432000" cy="432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160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520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功能需求与非功能需求规格说明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988000"/>
            <a:ext cx="432000" cy="432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2952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系统建模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000" y="3312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用例图、活动图、类图、时序图、状态图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3780000"/>
            <a:ext cx="432000" cy="432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000" y="3744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概要设计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000" y="4104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体系结构设计与数据库设计</a:t>
            </a:r>
          </a:p>
        </p:txBody>
      </p:sp>
      <p:sp>
        <p:nvSpPr>
          <p:cNvPr id="17" name="Oval 16"/>
          <p:cNvSpPr/>
          <p:nvPr/>
        </p:nvSpPr>
        <p:spPr>
          <a:xfrm>
            <a:off x="6300000" y="1404000"/>
            <a:ext cx="432000" cy="432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000" y="1368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功能演示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000" y="1728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各模块功能实现与截图展示</a:t>
            </a:r>
          </a:p>
        </p:txBody>
      </p:sp>
      <p:sp>
        <p:nvSpPr>
          <p:cNvPr id="20" name="Oval 19"/>
          <p:cNvSpPr/>
          <p:nvPr/>
        </p:nvSpPr>
        <p:spPr>
          <a:xfrm>
            <a:off x="6300000" y="2196000"/>
            <a:ext cx="432000" cy="432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000" y="2160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测试与质量保证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000" y="2520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测试策略、用例与运行结果</a:t>
            </a:r>
          </a:p>
        </p:txBody>
      </p:sp>
      <p:sp>
        <p:nvSpPr>
          <p:cNvPr id="23" name="Oval 22"/>
          <p:cNvSpPr/>
          <p:nvPr/>
        </p:nvSpPr>
        <p:spPr>
          <a:xfrm>
            <a:off x="6300000" y="2988000"/>
            <a:ext cx="432000" cy="4320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000" y="2952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000" y="3312000"/>
            <a:ext cx="48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已完成工作总结与后续计划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项目背景与业务需求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260000"/>
            <a:ext cx="5580000" cy="50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836000"/>
            <a:ext cx="5220000" cy="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1999" y="1368000"/>
            <a:ext cx="507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市场痛点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999" y="1980000"/>
            <a:ext cx="5076001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交易不安全：缺乏第三方担保，诈骗频发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信息不对称：买卖双方难以及时匹配需求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流程繁琐：传统交易需多方沟通，效率低下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缺乏信任：卖家信誉无法验证，买家顾虑多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支付风险：直接转账无保障，退款困难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售后缺失：道具交付后出现问题无法追溯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1260000"/>
            <a:ext cx="5580000" cy="50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80000" y="1836000"/>
            <a:ext cx="5220000" cy="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1999" y="1368000"/>
            <a:ext cx="507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本平台解决方案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999" y="1980000"/>
            <a:ext cx="5076001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一站式交易：发布、浏览、购买全流程闭环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安全可靠：用户认证 + 平台担保交易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简洁高效：直观的UI设计，三步完成购买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信誉体系：卖家信息透明，交易记录可查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模拟支付：安全的余额系统，资金可追溯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订单追踪：从下单到收货全流程状态追踪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6408000"/>
            <a:ext cx="11472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打造安全、便捷、高效的游戏道具交易体验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需求分析 — 系统用例图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11112120" cy="39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【用例图】</a:t>
            </a:r>
            <a:br/>
            <a:r>
              <a:t>见 diagrams/use_case.drawio</a:t>
            </a:r>
            <a:br/>
            <a:r>
              <a:t>请导出PNG后替换此占位符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5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三类用户角色：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买家（普通用户）：注册登录、浏览道具、搜索筛选、收藏道具、下单购买、确认收货、查看订单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卖家：发布道具、管理道具（编辑/下架）、发货操作、查看销售订单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管理员：用户管理、道具审核、数据统计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需求规格说明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260000"/>
            <a:ext cx="5760000" cy="50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368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功能需求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1440000" cy="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944000"/>
            <a:ext cx="504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1. 用户注册与登录（含个人资料编辑）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2. 道具发布、编辑与下架管理</a:t>
            </a:r>
          </a:p>
          <a:p>
            <a:pPr algn="l">
              <a:spcAft>
                <a:spcPts val="18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3. 道具搜索、筛选与分页浏览</a:t>
            </a:r>
          </a:p>
          <a:p>
            <a:pPr algn="l">
              <a:spcAft>
                <a:spcPts val="18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4. 道具收藏与取消收藏（AJAX）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5. 在线购买与下单</a:t>
            </a:r>
          </a:p>
          <a:p>
            <a:pPr algn="l">
              <a:spcAft>
                <a:spcPts val="18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6. 订单管理与状态追踪</a:t>
            </a:r>
          </a:p>
          <a:p>
            <a:pPr algn="l">
              <a:spcAft>
                <a:spcPts val="18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7. 余额充值（模拟支付）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8. 收货确认与交易完成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0" y="1260000"/>
            <a:ext cx="5580000" cy="50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0000" y="1368000"/>
            <a:ext cx="48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非功能需求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0000" y="1800000"/>
            <a:ext cx="1440000" cy="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0000" y="1944000"/>
            <a:ext cx="48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安全性 (Security)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- 用户认证与权限控制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- CSRF 防护，防止跨站攻击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可用性 (Usability)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- Bootstrap 5 响应式设计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- 直观的导航与操作流程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可靠性 (Reliability)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- 数据库事务保证数据一致性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- 订单状态机防止非法流转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可维护性 (Maintainability)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- Django MTV 分层架构</a:t>
            </a:r>
          </a:p>
          <a:p>
            <a:pPr algn="l">
              <a:spcAft>
                <a:spcPts val="12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- 模块化 App 设计，高内聚低耦合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系统建模 — 购买道具活动图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11112120" cy="39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【活动图】</a:t>
            </a:r>
            <a:br/>
            <a:r>
              <a:t>见 diagrams/activity_buy_item.drawio</a:t>
            </a:r>
            <a:br/>
            <a:r>
              <a:t>请导出PNG后替换此占位符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5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关键流程节点：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用户浏览道具列表 → 查看详情 → 点击购买 → 创建订单 → 进入支付页面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→ 选择支付方式（余额支付）→ 输入密码确认 → 支付成功 → 卖家发货 → 买家确认收货 → 交易完成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系统建模 — 核心领域模型类图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11112120" cy="39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【类图】</a:t>
            </a:r>
            <a:br/>
            <a:r>
              <a:t>见 diagrams/class_diagram.drawio</a:t>
            </a:r>
            <a:br/>
            <a:r>
              <a:t>请导出PNG后替换此占位符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5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6个核心实体及其关系：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User ──1:1── UserProfile（用户扩展信息：头像、手机号、余额）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User ──1:N── Item（卖家发布道具）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Category ──1:N── Item（道具分类）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User ──M:N── Item (through Favorite)（收藏关系）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User (买家) ──1:N── Order ──N:1── User (卖家)（订单关系）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Order ──1:1── Payment ──1:N── TransactionLog（支付流水）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系统建模 — 购买交易时序图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11112120" cy="396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【时序图】</a:t>
            </a:r>
            <a:br/>
            <a:r>
              <a:t>见 diagrams/sequence_buy_trade.drawio</a:t>
            </a:r>
            <a:br/>
            <a:r>
              <a:t>请导出PNG后替换此占位符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5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关键交互步骤：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买家→浏览器→View→Model→模板：浏览道具列表 → 点击购买 → POST下单请求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→ 创建Order记录(状态: pending) → 跳转支付页 → 确认支付 → 扣减余额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→ 创建Payment+TransactionLog → 更新Order状态(paid) → 通知卖家 → 卖家发货</a:t>
            </a:r>
          </a:p>
          <a:p>
            <a:pPr algn="l">
              <a:spcAft>
                <a:spcPts val="16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  → 更新Order状态(shipped) → 买家确认收货 → 更新Order(completed) → 增加卖家余额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系统建模 — 订单状态机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11112120" cy="288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【状态图】</a:t>
            </a:r>
            <a:br/>
            <a:r>
              <a:t>见 diagrams/state_order.drawio</a:t>
            </a:r>
            <a:br/>
            <a:r>
              <a:t>请导出PNG后替换此占位符</a:t>
            </a:r>
          </a:p>
        </p:txBody>
      </p:sp>
      <p:sp>
        <p:nvSpPr>
          <p:cNvPr id="6" name="Oval 5"/>
          <p:cNvSpPr/>
          <p:nvPr/>
        </p:nvSpPr>
        <p:spPr>
          <a:xfrm>
            <a:off x="1080000" y="4500000"/>
            <a:ext cx="216000" cy="216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486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55555"/>
                </a:solidFill>
                <a:latin typeface="Microsoft YaHei"/>
              </a:defRPr>
            </a:pPr>
            <a:r>
              <a:t>待支付 (pending)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22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买家已创建订单，等待完成支付</a:t>
            </a:r>
          </a:p>
        </p:txBody>
      </p:sp>
      <p:sp>
        <p:nvSpPr>
          <p:cNvPr id="9" name="Oval 8"/>
          <p:cNvSpPr/>
          <p:nvPr/>
        </p:nvSpPr>
        <p:spPr>
          <a:xfrm>
            <a:off x="3420000" y="4500000"/>
            <a:ext cx="216000" cy="216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0" y="486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  <a:latin typeface="Microsoft YaHei"/>
              </a:defRPr>
            </a:pPr>
            <a:r>
              <a:t>已支付 (paid)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522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买家完成支付，等待卖家发货</a:t>
            </a:r>
          </a:p>
        </p:txBody>
      </p:sp>
      <p:sp>
        <p:nvSpPr>
          <p:cNvPr id="12" name="Oval 11"/>
          <p:cNvSpPr/>
          <p:nvPr/>
        </p:nvSpPr>
        <p:spPr>
          <a:xfrm>
            <a:off x="5760000" y="4500000"/>
            <a:ext cx="216000" cy="2160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0000" y="486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Microsoft YaHei"/>
              </a:defRPr>
            </a:pPr>
            <a:r>
              <a:t>已发货 (shipped)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0000" y="522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卖家已发货，等待买家确认收货</a:t>
            </a:r>
          </a:p>
        </p:txBody>
      </p:sp>
      <p:sp>
        <p:nvSpPr>
          <p:cNvPr id="15" name="Oval 14"/>
          <p:cNvSpPr/>
          <p:nvPr/>
        </p:nvSpPr>
        <p:spPr>
          <a:xfrm>
            <a:off x="8100000" y="4500000"/>
            <a:ext cx="216000" cy="216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0000" y="486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已完成 (completed)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0" y="522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买家确认收货，交易成功完成</a:t>
            </a:r>
          </a:p>
        </p:txBody>
      </p:sp>
      <p:sp>
        <p:nvSpPr>
          <p:cNvPr id="18" name="Oval 17"/>
          <p:cNvSpPr/>
          <p:nvPr/>
        </p:nvSpPr>
        <p:spPr>
          <a:xfrm>
            <a:off x="10440000" y="4500000"/>
            <a:ext cx="216000" cy="216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0000" y="486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已取消 (cancelled)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0000" y="522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订单被取消（买家主动取消或超时）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概要设计 — Django MTV 体系结构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60000"/>
            <a:ext cx="5760000" cy="10800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36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Template 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728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Bootstrap 5 + jQuery + Font Awesome</a:t>
            </a:r>
            <a:br/>
            <a:r>
              <a:t>Django 模板继承 (base.html)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628000"/>
            <a:ext cx="5760000" cy="108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View 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096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函数视图 + @login_required 装饰器</a:t>
            </a:r>
            <a:br/>
            <a:r>
              <a:t>AJAX 异步交互 + 消息框架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3996000"/>
            <a:ext cx="5760000" cy="10800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410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Model 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4464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6 个 App 模块</a:t>
            </a:r>
            <a:br/>
            <a:r>
              <a:t>users / items / trading / orders / payments / stats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5364000"/>
            <a:ext cx="5760000" cy="1080000"/>
          </a:xfrm>
          <a:prstGeom prst="round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547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5832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EEEE"/>
                </a:solidFill>
                <a:latin typeface="Microsoft YaHei"/>
              </a:defRPr>
            </a:pPr>
            <a:r>
              <a:t>SQLite（开发环境）/ PostgreSQL（生产环境）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240000" y="2376001"/>
            <a:ext cx="360000" cy="216000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3240000" y="3744001"/>
            <a:ext cx="360000" cy="216000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3240000" y="5112001"/>
            <a:ext cx="360000" cy="216000"/>
          </a:xfrm>
          <a:prstGeom prst="down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0000" y="1260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6 个 App 模块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40000" y="1872000"/>
            <a:ext cx="486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0000" y="190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Microsoft YaHei"/>
              </a:defRPr>
            </a:pPr>
            <a:r>
              <a:t>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0000" y="2196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用户认证 — 注册/登录/登出/个人资料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40000" y="2664000"/>
            <a:ext cx="486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0000" y="270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Microsoft YaHei"/>
              </a:defRPr>
            </a:pPr>
            <a:r>
              <a:t>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0000" y="2988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道具管理 — 发布/浏览/搜索/收藏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40000" y="3456000"/>
            <a:ext cx="486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0000" y="3492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Microsoft YaHei"/>
              </a:defRPr>
            </a:pPr>
            <a:r>
              <a:t>trading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0000" y="3780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交易执行 — 购买流程/价格逻辑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40000" y="4248000"/>
            <a:ext cx="486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0000" y="4284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Microsoft YaHei"/>
              </a:defRPr>
            </a:pPr>
            <a:r>
              <a:t>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0000" y="4572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订单管理 — 状态机/发货/收货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0000" y="5040000"/>
            <a:ext cx="486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0000" y="5076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Microsoft YaHei"/>
              </a:defRPr>
            </a:pPr>
            <a:r>
              <a:t>payments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0000" y="5364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支付处理 — 模拟支付/流水记录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40000" y="5832000"/>
            <a:ext cx="486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20000" y="586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Microsoft YaHei"/>
              </a:defRPr>
            </a:pPr>
            <a:r>
              <a:t>stats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0000" y="6156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统计分析 — 月报/热门道具/图表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数据库设计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260000"/>
            <a:ext cx="1440000" cy="432000"/>
          </a:xfrm>
          <a:prstGeom prst="rect">
            <a:avLst/>
          </a:prstGeom>
          <a:solidFill>
            <a:srgbClr val="2C3E50"/>
          </a:solidFill>
          <a:ln w="6350">
            <a:solidFill>
              <a:srgbClr val="1A2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表名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1260000"/>
            <a:ext cx="4860000" cy="432000"/>
          </a:xfrm>
          <a:prstGeom prst="rect">
            <a:avLst/>
          </a:prstGeom>
          <a:solidFill>
            <a:srgbClr val="2C3E50"/>
          </a:solidFill>
          <a:ln w="6350">
            <a:solidFill>
              <a:srgbClr val="1A2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核心字段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0000" y="1260000"/>
            <a:ext cx="1800000" cy="432000"/>
          </a:xfrm>
          <a:prstGeom prst="rect">
            <a:avLst/>
          </a:prstGeom>
          <a:solidFill>
            <a:srgbClr val="2C3E50"/>
          </a:solidFill>
          <a:ln w="6350">
            <a:solidFill>
              <a:srgbClr val="1A2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用途说明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8460000" y="1260000"/>
            <a:ext cx="3060000" cy="432000"/>
          </a:xfrm>
          <a:prstGeom prst="rect">
            <a:avLst/>
          </a:prstGeom>
          <a:solidFill>
            <a:srgbClr val="2C3E50"/>
          </a:solidFill>
          <a:ln w="6350">
            <a:solidFill>
              <a:srgbClr val="1A2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关联关系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692000"/>
            <a:ext cx="144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0" y="1692000"/>
            <a:ext cx="486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id, username, password, 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0000" y="1692000"/>
            <a:ext cx="180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Django内置用户模型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60000" y="1692000"/>
            <a:ext cx="306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2268000"/>
            <a:ext cx="144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UserProfile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0" y="2268000"/>
            <a:ext cx="486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id, user(1:1), avatar, phone, bio, balance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0000" y="2268000"/>
            <a:ext cx="180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User扩展信息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0000" y="2268000"/>
            <a:ext cx="306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User (OneToOne)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844000"/>
            <a:ext cx="144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0" y="2844000"/>
            <a:ext cx="486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id, name, icon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0000" y="2844000"/>
            <a:ext cx="180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道具分类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0000" y="2844000"/>
            <a:ext cx="306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420000"/>
            <a:ext cx="144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Item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0000" y="3420000"/>
            <a:ext cx="486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id, name, game, price, description, image,</a:t>
            </a:r>
            <a:br/>
            <a:r>
              <a:t>  status, views_count, seller(FK), category(FK)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0000" y="3420000"/>
            <a:ext cx="180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核心道具实体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0000" y="3420000"/>
            <a:ext cx="306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User (FK), Category (FK)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3996000"/>
            <a:ext cx="144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0" y="3996000"/>
            <a:ext cx="486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id, order_no, buyer(FK), seller(FK), item(FK),</a:t>
            </a:r>
            <a:br/>
            <a:r>
              <a:t>  amount, status, created_at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0000" y="3996000"/>
            <a:ext cx="180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交易订单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60000" y="3996000"/>
            <a:ext cx="306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User(buyer/seller), Item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4572000"/>
            <a:ext cx="144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Payment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0000" y="4572000"/>
            <a:ext cx="486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id, order(1:1), amount, method, status,</a:t>
            </a:r>
            <a:br/>
            <a:r>
              <a:t>  paid_at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60000" y="4572000"/>
            <a:ext cx="180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支付记录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60000" y="4572000"/>
            <a:ext cx="306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Order (OneToOne)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000" y="5148000"/>
            <a:ext cx="144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TransactionLog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0000" y="5148000"/>
            <a:ext cx="486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id, user(FK), order(FK), amount, type,</a:t>
            </a:r>
            <a:br/>
            <a:r>
              <a:t>  description, created_at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60000" y="5148000"/>
            <a:ext cx="180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交易流水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0000" y="5148000"/>
            <a:ext cx="3060000" cy="57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User, Order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5724000"/>
            <a:ext cx="144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Favorite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0000" y="5724000"/>
            <a:ext cx="486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id, user(FK), item(FK), created_at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60000" y="5724000"/>
            <a:ext cx="180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收藏关系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60000" y="5724000"/>
            <a:ext cx="3060000" cy="57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User, Item (unique_together)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OneToOne = 一对一  |  FK (ForeignKey) = 一对多  |  unique_together = 多对多唯一约束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功能演示 — 用户认证与道具展示【已完成】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26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用户注册 / 登录 / 登出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180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个人资料编辑（头像上传）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34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34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道具发布 / 编辑 / 下架（软删除）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88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288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道具列表页（分页、排序、搜索/筛选）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342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342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道具详情页（含浏览量统计）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39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396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收藏 / 取消收藏（AJAX 异步交互）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450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450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我的发布管理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0" y="1260000"/>
            <a:ext cx="5940000" cy="4860000"/>
          </a:xfrm>
          <a:prstGeom prst="rect">
            <a:avLst/>
          </a:prstGeom>
          <a:solidFill>
            <a:srgbClr val="FAFAFA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【截图占位】</a:t>
            </a:r>
            <a:br/>
            <a:br/>
            <a:br/>
            <a:r>
              <a:t>注册页面</a:t>
            </a:r>
            <a:br/>
            <a:r>
              <a:t>道具列表页</a:t>
            </a:r>
            <a:br/>
            <a:r>
              <a:t>道具详情页</a:t>
            </a:r>
            <a:br/>
            <a:r>
              <a:t>个人中心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63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成员A: 用户认证 + 道具展示模块 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功能演示 — 交易流程【已完成】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26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购买下单（buy_now 一键购买）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180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创建订单 / 取消订单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34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34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模拟支付 / 支付回调处理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88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288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卖家发货操作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342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342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买家确认收货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39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396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交易流水记录（TransactionLog）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450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450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t>买家 / 卖家订单列表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0" y="1260000"/>
            <a:ext cx="5940000" cy="4860000"/>
          </a:xfrm>
          <a:prstGeom prst="rect">
            <a:avLst/>
          </a:prstGeom>
          <a:solidFill>
            <a:srgbClr val="FAFAFA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【截图占位】</a:t>
            </a:r>
            <a:br/>
            <a:br/>
            <a:br/>
            <a:r>
              <a:t>购买页面</a:t>
            </a:r>
            <a:br/>
            <a:r>
              <a:t>支付确认页</a:t>
            </a:r>
            <a:br/>
            <a:r>
              <a:t>发货页面</a:t>
            </a:r>
            <a:br/>
            <a:r>
              <a:t>订单列表页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63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成员B: 交易模块 + 支付系统 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功能演示 — 余额充值【简化版已完成】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57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当前实现：模拟充值，直接增加用户余额数字，未接入真实支付接口。</a:t>
            </a:r>
          </a:p>
          <a:p>
            <a:pPr algn="l">
              <a:spcAft>
                <a:spcPts val="22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完整的 TransactionLog 流水记录，确保每笔资金变动可追溯。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充值流程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880000"/>
            <a:ext cx="2340000" cy="198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988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98DB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600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用户点击充值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032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访问充值页面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16000" y="3707999"/>
            <a:ext cx="288000" cy="28800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0" y="2880000"/>
            <a:ext cx="2340000" cy="198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0000" y="2988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98DB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000" y="3600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输入充值金额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0" y="4032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填写金额并确认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16000" y="3707999"/>
            <a:ext cx="288000" cy="28800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0000" y="2880000"/>
            <a:ext cx="2340000" cy="198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0000" y="2988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98DB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3600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系统增加余额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4032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直接增加余额数字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316000" y="3707999"/>
            <a:ext cx="288000" cy="28800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40000" y="2880000"/>
            <a:ext cx="2340000" cy="198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000" y="2988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98DB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000" y="3600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记录流水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0000" y="4032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写入 TransactionLog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5112000"/>
            <a:ext cx="10800000" cy="9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【截图占位：充值页面】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Microsoft YaHei"/>
              </a:defRPr>
            </a:pPr>
            <a:r>
              <a:t>ℹ 后续可接入支付宝/微信支付沙箱环境，实现真实支付流程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功能演示 — 订单管理页面【待合并】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1368000"/>
            <a:ext cx="10080000" cy="4860000"/>
          </a:xfrm>
          <a:prstGeom prst="rect">
            <a:avLst/>
          </a:prstGeom>
          <a:solidFill>
            <a:srgbClr val="F8F8F8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1620000"/>
            <a:ext cx="86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【占位：待合并成员C代码】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预计内容包括：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  •  买家订单列表页（按状态筛选：待支付/已支付/已发货/已完成/已取消）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  •  卖家订单列表页（发货操作按钮）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  •  订单详情页（完整订单信息展示）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（虚线边框 + 浅灰背景标记为占位区域）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40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成员C: 订单管理  🔲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功能演示 — 统计模块与前端整合【待合并】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1368000"/>
            <a:ext cx="10080000" cy="4860000"/>
          </a:xfrm>
          <a:prstGeom prst="rect">
            <a:avLst/>
          </a:prstGeom>
          <a:solidFill>
            <a:srgbClr val="F8F8F8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1620000"/>
            <a:ext cx="86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【占位：待合并成员C代码】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预计内容包括：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  •  热门道具统计 / 月报生成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  •  邮件发送功能（月报推送给用户）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  •  前端整体 Bootstrap 美化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  •  响应式布局优化（移动端适配）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  •  全局导航栏与页面风格统一</a:t>
            </a: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</a:p>
          <a:p>
            <a:pPr algn="l">
              <a:spcAft>
                <a:spcPts val="2000"/>
              </a:spcAft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（虚线边框 + 浅灰背景标记为占位区域）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40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成员C: 统计 + 前端整合  🔲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测试与质量保证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260000"/>
            <a:ext cx="5940000" cy="50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36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测试策略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728000"/>
            <a:ext cx="1080000" cy="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872000"/>
            <a:ext cx="522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单元测试 (Unit Test)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用户认证：注册/登录/登出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道具浏览：列表/详情/搜索/筛选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交易流程：购买/支付/发货/收货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收藏功能：添加/取消收藏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黑盒测试 (Black-box Test)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功能测试用例设计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等价类划分法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边界值分析法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白盒测试 (White-box Test)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语句覆盖（Statement Coverage）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分支覆盖（Branch Coverage）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自动化测试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Selenium WebDriver UI 交互测试</a:t>
            </a:r>
          </a:p>
          <a:p>
            <a:pPr algn="l">
              <a:spcAft>
                <a:spcPts val="1000"/>
              </a:spcAft>
              <a:defRPr sz="1300">
                <a:solidFill>
                  <a:srgbClr val="000000"/>
                </a:solidFill>
                <a:latin typeface="Microsoft YaHei"/>
              </a:defRPr>
            </a:pPr>
            <a:r>
              <a:t>  • Django TestCase 集成测试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0000" y="1260000"/>
            <a:ext cx="5220000" cy="50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0000" y="1368000"/>
            <a:ext cx="4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测试统计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0000" y="1728000"/>
            <a:ext cx="1080000" cy="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00000" y="1980000"/>
            <a:ext cx="4140000" cy="3600000"/>
          </a:xfrm>
          <a:prstGeom prst="rect">
            <a:avLst/>
          </a:prstGeom>
          <a:solidFill>
            <a:srgbClr val="F5F5F5"/>
          </a:solidFill>
          <a:ln w="19050">
            <a:solidFill>
              <a:srgbClr val="BDBDB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【截图占位】</a:t>
            </a:r>
            <a:br/>
            <a:br/>
            <a:r>
              <a:t>测试运行结果</a:t>
            </a:r>
            <a:br/>
            <a:br/>
            <a:br/>
            <a:r>
              <a:t>python manage.py test</a:t>
            </a:r>
            <a:br/>
            <a:br/>
            <a:r>
              <a:t>测试覆盖率报告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12119" cy="2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188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已完成工作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800000"/>
            <a:ext cx="5580000" cy="16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2376000"/>
            <a:ext cx="5220000" cy="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1999" y="1908000"/>
            <a:ext cx="507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成员A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999" y="2520000"/>
            <a:ext cx="5076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用户认证模块（注册/登录/登出/个人资料编辑）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道具展示模块（发布/列表/详情/搜索/收藏）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状态：✅ 已完成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1800000"/>
            <a:ext cx="5580000" cy="16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80000" y="2376000"/>
            <a:ext cx="5220000" cy="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1999" y="1908000"/>
            <a:ext cx="507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成员B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999" y="2520000"/>
            <a:ext cx="5076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交易核心模块（购买/支付/发货/收货流程）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支付系统（模拟支付/余额充值/交易流水）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状态：✅ 已完成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378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待完成工作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4320000"/>
            <a:ext cx="5580000" cy="16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000" y="4896000"/>
            <a:ext cx="5220000" cy="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999" y="4428000"/>
            <a:ext cx="507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Microsoft YaHei"/>
              </a:defRPr>
            </a:pPr>
            <a:r>
              <a:t>成员C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999" y="5040000"/>
            <a:ext cx="5076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订单管理页面（买家/卖家订单列表与详情）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统计模块（热门道具统计/月报生成/邮件发送）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前端整合（Bootstrap美化/响应式布局/全局导航）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状态：🔲 待合并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000" y="4320000"/>
            <a:ext cx="5580000" cy="16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0000" y="4896000"/>
            <a:ext cx="5220000" cy="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999" y="4428000"/>
            <a:ext cx="507600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后续计划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999" y="5040000"/>
            <a:ext cx="507600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支付模块升级（对接支付宝/微信支付沙箱）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增加更多游戏类型支持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完善举报与纠纷处理机制</a:t>
            </a:r>
          </a:p>
          <a:p>
            <a:pPr algn="l">
              <a:spcAft>
                <a:spcPts val="1800"/>
              </a:spcAft>
              <a:defRPr sz="1300">
                <a:solidFill>
                  <a:srgbClr val="555555"/>
                </a:solidFill>
                <a:latin typeface="Microsoft YaHei"/>
              </a:defRPr>
            </a:pPr>
            <a:r>
              <a:t>状态：🔲 后续版本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6300000"/>
            <a:ext cx="11112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感谢各位老师聆听！欢迎提问与指导。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6390000"/>
            <a:ext cx="11472119" cy="1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2119" y="6498000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